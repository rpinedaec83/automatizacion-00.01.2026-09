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Iniciar puntuales a las 19:30. Explicar que el Subindicador 4 comprende 2 clases completas (martes y jueves). Hoy nos enfocaremos en la ingeniería de prompts estructural: cómo redactar instrucciones infalibles para agentes profesionales.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a los alumnos la disciplina de tiempos. Tendremos 50 minutos netos de laboratorio práctico con ejercicios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 que un agente de IA no tiene 'sentido común', solo tiene el System Prompt que nosotros le redactemos.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Decir a los alumnos: Grábense esta fórmula: R-C-T-R-F. Cada vez que construyan un agente para una empresa, deben auditar si tiene estos 5 componentes.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cómo las etiquetas XML &lt;politicas&gt;&lt;/politicas&gt; hacen imposible que el LLM confunda una regla con el texto que ingresó un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regla de oro: Si el modelo falla en entender tu instrucción explicada con palabras, no agregues más palabras; ponle un ejemplo claro de entrada y salida.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vivo en la pantalla de Playground cómo agregar turnos de conversación para entrenar en contexto al 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que los alumnos repitan: 'Si no le digo al agente qué hacer cuando falta información, él inventará la información'.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Probar ambos en el Playground en vivo para que los alumnos vean la abismal diferencia en el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práctica es vital para empresas que tienen miedo de que la IA le diga a un cliente o empleado cosas que no son verdad.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la prueba en Playground. Verán cómo el modelo infiere el patrón exacto sin titubear.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que convertir evaluaciones cualitativas en rúbricas cuantitativas estructuradas es uno de los servicios más rentables para consultores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10 minutos para desarrollo individual y 5 minutos para que 2 alumnos compartan pantalla.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puntuales a las 21:45 felicitando al grupo por el avance en la creación de prompts estructurados.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CURSO: AUTOMATIZACIÓN DE AGENTES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Diseño de Prompts Efectivos para Agentes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t>Sesión 1: Estructura Anatómica, Contexto, Delimitadores y Few-Shot Prompting en OpenAI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EA5E9"/>
                </a:solidFill>
              </a:defRPr>
            </a:pPr>
            <a:r>
              <a:t>Subindicador 4 (Clase 1 de 2: Martes)   •   Horario: 19:30 - 21:45 hrs (135 min)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Entorno de Práctica: OpenAI Platform Playground (System Instructions &amp; Few-Shot Mode)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 de la Sesión de Hoy (19:30 - 21:45)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19:30 - 19:45  •  Apertura &amp; Contexto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De la conversación informal a la ingeniería: El prompt como código fuente del agente.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19:45 - 20:15  •  Los 5 Componentes Clave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La fórmula R-C-T-R-F: Rol, Contexto, Tarea, Restricciones y Formato.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2578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20:15 - 20:25  •  Delimitadores &amp; Few-Shot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Uso de Markdown/XML y cómo enseñar con ejemplos de alta fidelidad.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00400"/>
            <a:ext cx="52578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20:25 - 20:30  •  Pausa Activa / Setup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Sincronización en OpenAI Playground y configuración de parámetros.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52578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20:30 - 21:20  •  Hands-On: 4 Prácticas en Vivo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Refactorización de prompts reales, delimitación estricta y Few-Shot en Playground.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800600"/>
            <a:ext cx="525780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21:20 - 21:45  •  Reto en Clase y Cierre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Construcción de prompt autónomo y puente hacia la Sesión 2 del jueves.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Prompting Conversacional vs. Prompting de Agentes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Prompting Informal (ChatGPT)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Enfoque de usuario: 'Hazme un resumen de esto' o 'Dame ideas'.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Tolera ambigüedad: Si la respuesta no gusta, el humano repregunta.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Salida impredecible: Texto libre con párrafos de longitud variable.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Sin consecuencias graves: Si comete un error, el usuario lo corrige en el momento.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Prompting de Agentes (Sistemas de Producción)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Es el CÓDIGO FUENTE del sistema: Define lógica y reglas de negocio.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Cero supervisión humana continua: Opera de forma autónoma.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Salida estricta y determinista: Debe encajar en bases de datos o APIs.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Manejo de casos de error: Debe saber qué responder cuando faltan datos o el usuario intenta engañarlo.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Anatomía de un Prompt Profesional: La Fórmula R-C-T-R-F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841248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1. ROL / IDENTIDAD</a:t>
            </a:r>
          </a:p>
          <a:p>
            <a:pPr>
              <a:spcBef>
                <a:spcPts val="200"/>
              </a:spcBef>
              <a:defRPr sz="1400">
                <a:solidFill>
                  <a:srgbClr val="FFFFFF"/>
                </a:solidFill>
              </a:defRPr>
            </a:pPr>
            <a:r>
              <a:t>Quién es el agente, su nivel de experiencia, departamento y perspectiva profesional.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32888"/>
            <a:ext cx="10698480" cy="841248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2. CONTEXTO</a:t>
            </a:r>
          </a:p>
          <a:p>
            <a:pPr>
              <a:spcBef>
                <a:spcPts val="200"/>
              </a:spcBef>
              <a:defRPr sz="1400">
                <a:solidFill>
                  <a:srgbClr val="FFFFFF"/>
                </a:solidFill>
              </a:defRPr>
            </a:pPr>
            <a:r>
              <a:t>El entorno operativo, antecedentes de la empresa, glosario o documentación de soporte.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65576"/>
            <a:ext cx="10698480" cy="841248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TAREA ESPECÍFICA</a:t>
            </a:r>
          </a:p>
          <a:p>
            <a:pPr>
              <a:spcBef>
                <a:spcPts val="200"/>
              </a:spcBef>
              <a:defRPr sz="1400">
                <a:solidFill>
                  <a:srgbClr val="FFFFFF"/>
                </a:solidFill>
              </a:defRPr>
            </a:pPr>
            <a:r>
              <a:t>La acción precisa y el objetivo concreto que debe ejecutar paso a paso.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98264"/>
            <a:ext cx="10698480" cy="841248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4. RESTRICCIONES &amp; GUARDRAILS</a:t>
            </a:r>
          </a:p>
          <a:p>
            <a:pPr>
              <a:spcBef>
                <a:spcPts val="200"/>
              </a:spcBef>
              <a:defRPr sz="1400">
                <a:solidFill>
                  <a:srgbClr val="FFFFFF"/>
                </a:solidFill>
              </a:defRPr>
            </a:pPr>
            <a:r>
              <a:t>Lo que JAMÁS debe hacer, límites éticos, políticas y qué responder si falta información.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30952"/>
            <a:ext cx="10698480" cy="841248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5. FORMATO DE SALIDA</a:t>
            </a:r>
          </a:p>
          <a:p>
            <a:pPr>
              <a:spcBef>
                <a:spcPts val="200"/>
              </a:spcBef>
              <a:defRPr sz="1400">
                <a:solidFill>
                  <a:srgbClr val="FFFFFF"/>
                </a:solidFill>
              </a:defRPr>
            </a:pPr>
            <a:r>
              <a:t>La estructura final obligatoria: JSON, Tabla Markdown, viñetas delimitadas o campos clave.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Estructuración con Delimitadores: Claridad y Seguridad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EA5E9"/>
                </a:solidFill>
              </a:defRPr>
            </a:pPr>
            <a:r>
              <a:t>¿Para qué sirven los Delimitadores?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Separan las instrucciones de los datos: El modelo sabe exactamente qué es una orden y qué es contenido a analizar.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Previenen Prompt Injections: Si un usuario malicioso escribe 'Olvida las instrucciones anteriores', los delimitadores aíslan su texto.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Facilitan la lectura y mantenimiento del prompt en equipos de trabajo.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Delimitadores estándar: ###, """, ```, o etiquetas XML (&lt;contexto&gt;, &lt;reglas&gt;).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0A0F1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Ejemplo Visual de Estructura Delimitada: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### ROL Y OBJETIVO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Eres un analista de créditos...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### MANUAL DE POLÍTICAS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&lt;politicas&gt;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- Ingreso mínimo: S/ 2,500 netos.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- Máximo endeudamiento: 40%.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&lt;/politicas&gt;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### DATOS DEL CLIENTE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"""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{mensaje_usuario}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"""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### FORMATO OBLIGATORIO DE RESPUESTA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ourier New"/>
              </a:defRPr>
            </a:pPr>
            <a:r>
              <a:t>Genera una tabla con Dictamen y Motivo.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Técnicas de Instrucción: Zero-Shot vs. Few-Shot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EA5E9"/>
                </a:solidFill>
              </a:defRPr>
            </a:pPr>
            <a:r>
              <a:t>Zero-Shot Prompting (Sin Ejemplos)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Se le pide al modelo resolver la tarea basándose únicamente en su conocimiento previo y las instrucciones dadas.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Cuándo usarlo: Tareas estándar, redacción general, traducción o resúmenes sencillos.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Riesgo: El modelo puede interpretar el formato o criterio de clasificación a su propio criterio subjetivo.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0B981"/>
                </a:solidFill>
              </a:defRPr>
            </a:pPr>
            <a:r>
              <a:t>Few-Shot Prompting (Con Ejemplos)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Se le proporcionan de 2 a 5 ejemplos exactos de 'Entrada -&gt; Salida' antes de pedirle que resuelva el caso real.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Cuándo usarlo: Clasificaciones ambiguas, formatos de salida ultra estrictos o tono muy corporativo.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Beneficio: Elimina el 90% de ambigüedades sin necesidad de entrenar o 'fine-tunear' el modelo con código.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¿Cómo Implementar Few-Shot en OpenAI Playground?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Opción 1: Dentro del System Prompt (En el texto)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Escribir directamente dentro de la caja de System: 'EJEMPLO 1: Input: ... Output: ...' 'EJEMPLO 2: Input: ... Output: ...'. Es el método más portable para Make/Zapier.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Opción 2: Usando Mensajes User / Assistant Previos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En el Playground, hacer clic en '+ Add Message' y simular una conversación previa donde el User pone un caso y el Assistant responde exactamente como queremos.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0916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EA5E9"/>
                </a:solidFill>
              </a:defRPr>
            </a:pPr>
            <a:r>
              <a:t>El Secreto de la Calidad en Few-Shot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</a:defRPr>
            </a:pPr>
            <a:r>
              <a:t>Los ejemplos deben cubrir casos variados: Un ejemplo estándar positivo, un ejemplo de rechazo o negativo, y un ejemplo de caso incompleto.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Regla de Oro: Instruir sobre el 'Caso Negativo'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9E0B"/>
                </a:solidFill>
              </a:defRPr>
            </a:pPr>
            <a:r>
              <a:t>El Error Típico del Principiante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El principiante solo le dice al agente qué hacer cuando todo está perfecto.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¿Qué pasa si el cliente NO envía su número de pedido?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¿Qué pasa si el documento adjunto no tiene relación con el tema?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Resultado: El modelo improvisa, alucina datos falsos o genera un texto incoherente que rompe la automatización.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0B981"/>
                </a:solidFill>
              </a:defRPr>
            </a:pPr>
            <a:r>
              <a:t>La Práctica del Automatizador Experto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Definir SIEMPRE el comportamiento por defecto: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  'Si el dato X no está presente, devuelve null'.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  'Si la pregunta no está en el manual adjunto, responde exactamente: Lo siento, no cuento con esa información en mi base autorizada'.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Cero alucinación: Restringir la creatividad a cero (Temperature 0.0) cuando se trata de datos institucionales.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Práctica 1: Deconstrucción de un Mal Prompt vs. Estructurado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28141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❌ Prompt Mal Diseñado (Vago):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"Eres un asistente de ventas. Revisa este mensaje de un cliente potencial y dime si vale la pena llamarlo o no y dame sus datos."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¿Qué criterios definen si 'vale la pena'?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¿En qué formato debe entregar los datos?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¿Qué tono debe tener?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Salida: Un párrafo desordenado inútil para un CRM.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✓ Prompt Refactorizado (R-C-T-R-F):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Rol: Calificador de Leads B2B para software SaaS.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Contexto: Empresa vende licencias para equipos &gt; 10 personas.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Tarea: Evaluar tamaño, presupuesto y urgencia.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Restricciones: Si no menciona empresa o tamaño, clasificar como 'LEAD TIBIO - REQUIERE INDAGAR'.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Formato: Objeto JSON con {score_1_al_10, clasificacion, accion_siguiente}.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Práctica 2: Base de Conocimiento Delimitada (Grounding)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0EA5E9"/>
                </a:solidFill>
              </a:defRPr>
            </a:pPr>
            <a:r>
              <a:t>Objetivo: Crear un Agente Estricto de RRHH que NO invente beneficios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1. Técnica: Envolver el reglamento interno de la empresa en etiquetas &lt;reglamento&gt; ... &lt;/reglamento&gt;.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2. Regla Anti-Alucinación: 'Responde ÚNICAMENTE con hechos presentes dentro de las etiquetas &lt;reglamento&gt;. Si un colaborador consulta por un beneficio que no está en el texto (ej. trabajo remoto o vales de almuerzo), responde: Este beneficio no se encuentra estipulado en la normativa actual.'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3. Parámetro Técnico: Temperature = 0.0 (Cero creatividad).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4. Caso de Prueba en Vivo: El usuario pregunta: '¿Puedo pedir viernes de home office si ya terminé mis tareas?'.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5. Resultado esperado: Rechazo educado basado 100% en el texto delimitado.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Práctica 3: Few-Shot para Normalización de Catálogo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El Desafío: Datos Sucios de Proveedores</a:t>
            </a:r>
          </a:p>
          <a:p>
            <a:pPr>
              <a:spcBef>
                <a:spcPts val="1200"/>
              </a:spcBef>
              <a:defRPr sz="1450">
                <a:solidFill>
                  <a:srgbClr val="FFFFFF"/>
                </a:solidFill>
              </a:defRPr>
            </a:pPr>
            <a:r>
              <a:t>• Cada vendedor o proveedor sube títulos como:</a:t>
            </a:r>
          </a:p>
          <a:p>
            <a:pPr>
              <a:spcBef>
                <a:spcPts val="1200"/>
              </a:spcBef>
              <a:defRPr sz="1450">
                <a:solidFill>
                  <a:srgbClr val="FFFFFF"/>
                </a:solidFill>
              </a:defRPr>
            </a:pPr>
            <a:r>
              <a:t>  'laptop lenov thinkpd i7 16gb remate!!!'</a:t>
            </a:r>
          </a:p>
          <a:p>
            <a:pPr>
              <a:spcBef>
                <a:spcPts val="1200"/>
              </a:spcBef>
              <a:defRPr sz="1450">
                <a:solidFill>
                  <a:srgbClr val="FFFFFF"/>
                </a:solidFill>
              </a:defRPr>
            </a:pPr>
            <a:r>
              <a:t>  'TELEVISOR SAMSUNG 55 PULG 4K SMART TV MODELO 2026'</a:t>
            </a:r>
          </a:p>
          <a:p>
            <a:pPr>
              <a:spcBef>
                <a:spcPts val="1200"/>
              </a:spcBef>
              <a:defRPr sz="1450">
                <a:solidFill>
                  <a:srgbClr val="FFFFFF"/>
                </a:solidFill>
              </a:defRPr>
            </a:pPr>
            <a:r>
              <a:t>• Necesitamos un formato canónico estricto para el sistema de inventario:</a:t>
            </a:r>
          </a:p>
          <a:p>
            <a:pPr>
              <a:spcBef>
                <a:spcPts val="1200"/>
              </a:spcBef>
              <a:defRPr sz="1450">
                <a:solidFill>
                  <a:srgbClr val="FFFFFF"/>
                </a:solidFill>
              </a:defRPr>
            </a:pPr>
            <a:r>
              <a:t>  [MARCA] | [TIPO] | [ESPECIFICACIONES PRINCIPALES]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0A0F1E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Inyección de 2 Ejemplos en el Prompt: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### EJEMPLOS CANÓNICOS: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Entrada: 'celular xiaomi redmi note 12 128gb azul'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Salida: XIAOMI | Smartphone | Redmi Note 12 - 128GB (Azul)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Entrada: 'impresora epson ecotank l3250 wifi multifuncional'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Salida: EPSON | Impresora Multifuncional | EcoTank L3250 (WiFi)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  <a:latin typeface="Courier New"/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### CASO A PROCESAR: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Entrada: 'audifonos inalambricos sony wh-1000xm5 negro cancelacion ruido'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  <a:latin typeface="Courier New"/>
              </a:defRPr>
            </a:pPr>
            <a:r>
              <a:t>Salida: ???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Práctica 4: Auditor de Calidad con Evaluación Objetiva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563EB"/>
                </a:solidFill>
              </a:defRPr>
            </a:pPr>
            <a:r>
              <a:t>Agente de Calidad (QA) para Conversaciones de Soporte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Rol: Auditor de Calidad y Cumplimiento de Procesos de Call Center.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Tarea: Evaluar la transcripción entre un asesor y un cliente.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Criterios Cuantitativos Estrictos: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  1. ¿Saludó según el protocolo de la empresa? (0 a 20 pts).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  2. ¿Validó la identidad del titular antes de brindar información? (0 o 40 pts - Eliminatorio).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  3. ¿Ofreció solución en el primer contacto sin rodeos? (0 a 20 pts).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  4. ¿Despedida cordial y encuesta? (0 a 20 pts).</a:t>
            </a:r>
          </a:p>
          <a:p>
            <a:pPr>
              <a:spcBef>
                <a:spcPts val="1000"/>
              </a:spcBef>
              <a:defRPr sz="1500">
                <a:solidFill>
                  <a:srgbClr val="FFFFFF"/>
                </a:solidFill>
              </a:defRPr>
            </a:pPr>
            <a:r>
              <a:t>• Formato de Salida: Tabla con desglose de puntaje + Nota Final (0-100) + Veredicto: [APROBADO / OBSERVADO].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Reto en Clase: Refactoriza un Prompt Real (15 minutos)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EA5E9"/>
                </a:solidFill>
              </a:defRPr>
            </a:pPr>
            <a:r>
              <a:t>Dinámica Individual / Parejas: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Toma una tarea cotidiana de tu empresa (ej. redactar emails de cobranza, filtrar reclamos, calificar postulantes a un puesto).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Aplica la estructura R-C-T-R-F de forma explícita en OpenAI Playground.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Incorpora al menos 1 delimitador (### o XML tags) y 1 regla explícita de 'caso negativo' (qué hacer si faltan datos).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4. Incluye 2 ejemplos Few-Shot si tu tarea requiere un formato específico.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5. Socialización: 2 alumnos voluntarios proyectarán su Playground para revisión y feedback en vivo.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SUBINDICADOR 4: DISEÑO DE PROMPTS | SESIÓN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Conclusiones y Conexión con la Sesión del Jueves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0B981"/>
                </a:solidFill>
              </a:defRPr>
            </a:pPr>
            <a:r>
              <a:t>Lo Aprendido Hoy (Sesión 1/2)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✓ El prompt de un agente no es una conversación: es una especificación de software.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✓ La fórmula R-C-T-R-F garantiza predictibilidad y elimina ambigüedades.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✓ Los delimitadores protegen al agente contra inyecciones y separan datos de órdenes.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✓ Few-Shot Prompting es la forma más rápida de lograr precisión quirúrgica sin programar.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2578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563EB"/>
                </a:solidFill>
              </a:defRPr>
            </a:pPr>
            <a:r>
              <a:t>Próxima Clase (Jueves - Sesión 2/2)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Técnicas Avanzadas de Razonamiento: Chain-of-Thought (CoT) y razonamiento paso a paso.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Blindaje y Hardening contra Prompt Injection malicioso.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Optimización de Costos y Tokens para producción.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Iteración y Evaluación Sistemática de Prompts con métricas de acierto.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</a:defRPr>
            </a:pPr>
            <a:r>
              <a:t>• ¡Nos vemos el jueves a las 19:30!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