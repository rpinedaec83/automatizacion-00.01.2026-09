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Iniciar a las 19:30 en punto. Dar la bienvenida y recordar que hoy es la sesión práctica donde aterrizaremos la teoría de los agentes a la plataforma real de OpenAI.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los bloques de tiempo para que los alumnos sepan cuándo será la parte teórica y cuándo empezarán a construir prompts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a los alumnos que el LLM es el motor, pero el System Prompt es la personalidad y manual de operaciones del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énfasis en que cada uno de estos 4 ejes tendrá su ejercicio práctico en el Playground durante la segunda mitad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a los alumnos: ¿Quién en su empresa tiene que responder lo mismo 20 veces al día por WhatsApp o correo?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aquí la temperatura puede ser un poco más alta (0.7) para permitir fluidez verbal y creatividad.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que esta es la habilidad más codiciada para automatizadores no-code: convertir texto en variables para Make o Zapier.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que el proyecto final del curso les pedirá diagramar procesos en BPMN y automatizarlos con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un profesional de automatización no usa la interfaz de ChatGPT para flujos de trabajo en empresas, sino la Platform y la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los alumnos que abran la pestaña de Playground y ubiquen cada uno de estos 5 controles.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10 minutos para que todos los alumnos copien los prompts de su guía y prueben respuestas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práctica 3 es el corazón de la automatización moderna. Dedicar tiempo a revisar la estructura de claves y valores.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Poner cronómetro de 10 minutos de trabajo autónomo y 5 minutos para que 2 alumnos presenten.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puntuales a las 21:45. Felicitaciones a todos por sus pruebas en Playground.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7548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CURSO: AUTOMATIZACIÓN DE AGENTES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Casos Reales y Práctica con OpenAI API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t>Subindicador 3: Aplicación práctica de agentes en atención al cliente, generación de contenido, automatización de procesos y productividad.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Docente: IDAT / Pachaqtec   •   Horario: 19:30 - 21:45 hrs (135 min)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Entorno Hands-On: OpenAI Platform (Playground &amp; Chat Completions API)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 de la Sesión de Hoy (19:30 - 21:45)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19:30 - 19:42  •  Apertura y Conexión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Recap de subindicadores 1 y 2: Tipos de agentes y arquitectura básica.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19:42 - 20:10  •  Los 4 Casos de Uso Clave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Atención al cliente, generación de contenido, procesos (JSON) y productividad.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20:10 - 20:25  •  OpenAI Platform &amp; Playground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ChatGPT vs API, System Prompt, Temperature, Tokens y Modelos.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004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20:25 - 20:30  •  Pausa Activa / Acceso Técnico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Verificación de cuentas en platform.openai.com para todos los alumnos.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20:30 - 21:20  •  Hands-On: 4 Prácticas en Vivo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Configuración y prueba de agentes reales paso a paso en el Playground.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8006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21:20 - 21:45  •  Reto Aplicado y Cierre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Construcción de un agente propio y conexión con Subindicador 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Conexión: ¿Qué aprendimos el martes? (Subindicadores 1 y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Subindicador 1: Tipos de Agentes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• Reactivo: Responde a estímulos inmediatos sin memoria histórica.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• Deliberativo: Posee un modelo del mundo, planifica y evalúa opciones antes de actuar.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• Autónomo: Toma decisiones, usa herramientas y persigue metas sin supervisión continua.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Subindicador 2: Arquitectura del Agente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• Input (Entrada): Texto, audios, documentos o eventos de webhook.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• LLM + Lógica: Procesa el contexto guiado por el System Prompt.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• Output (Acción): Respuesta en texto, llamada a API o JSON estructurado para otro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Subindicador 3: Los 4 Ejes de Aplicación Real en Organizaciones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22402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1. Atención al Cliente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Resolución de consultas frecuentes, contención emocional, seguimiento de pedidos y escalamiento controlado a agentes humanos.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22402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A5E9"/>
                </a:solidFill>
              </a:defRPr>
            </a:pPr>
            <a:r>
              <a:t>2. Generación de Contenido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Adaptación de mensajes a múltiples canales (LinkedIn, WhatsApp, Email) manteniendo la voz de marca y consistencia.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2402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3. Automatización de Procesos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Extracción de entidades desde texto no estructurado hacia JSON para alimentar bases de datos (Airtable, Supabase, ERPs).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023360"/>
            <a:ext cx="5257800" cy="22402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4. Productividad y Análisis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Conversión de notas dispersas o transcripciones en minutas ejecutivas, tareas accionables y diagramación inicial.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 1: Automatización de Atención al Cliente (Tier 1 Support)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EA5E9"/>
                </a:solidFill>
              </a:defRPr>
            </a:pPr>
            <a:r>
              <a:t>¿Por qué implementar este Agente?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Reducción del tiempo de respuesta (FRT) a &lt; 2 segundos.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Cobertura 24/7 sin sobrecosto de turnos nocturnos.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Resolución inmediata del 60-70% de consultas repetitivas.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El equipo humano se enfoca en casos de alto valor o complejidad.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Reglas de Diseño (Guardrails):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1. Políticas explícitas: Plazos de devolución, costos de envío y exclusiones claras.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2. Manejo de objeciones: Empatía validada sin prometer excepciones prohibidas.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3. Protocolo de escalamiento: Código trigger para transferir al humano (ej. [DERIVAR_A_HUMANO]).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4. Temperatura baja (0.1 - 0.2): Cero invención de datos o precios.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 2: Generación y Adaptación de Contenido Multicanal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El reto en la empresa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Un mismo mensaje o lanzamiento comercial debe comunicarse en LinkedIn, Blog, Email masivo y WhatsApp. Hacerlo manualmente lleva horas y suele perder el tono adecuado en cada 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La solución del Agente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Un agente con System Prompt que actúa como director editorial: recibe 1 solo hecho o hito y devuelve en 1 segundo las versiones formateadas para cada canal.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1069848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Control de Tono y Estilo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Se definen reglas precisas: LinkedIn usa párrafos breves y llamada a la reflexión; WhatsApp usa viñetas con emojis y enlace directo; Email usa estructura de persuasión AIDA.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 3: Automatización de Procesos (Extracción y Estructuración JSON)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EA5E9"/>
                </a:solidFill>
              </a:defRPr>
            </a:pPr>
            <a:r>
              <a:t>Del texto libre a la Base de Datos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Los humanos nos comunicamos en texto desordenado (un correo de reclamo, un audio, una cotización).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El software empresarial (ERPs, Make, Supabase, Airtable) necesita datos estructurados con nombres de columnas fijos.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El LLM actúa como traductor inteligente: lee lenguaje humano y devuelve un JSON válido.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¡Esto elimina por completo el tipeo manual!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0A0F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Salida del Agente (JSON Estructurado):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{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  "cliente": "Carlos Mendoza",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  "pedido": "PE-89412",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  "categoria": "PAGOS",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  "monto": 450.00,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  "urgencia": "CRITICA",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  "sentimiento": "MUY_MOLESTO",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  "accion": "Devolver duplicado"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 4: Creación de Aplicaciones para Productividad y Gestión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De Notas Sueltas a Matriz de Tareas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Transformar audios o transcripciones de reuniones en tablas estructuradas con Responsable, Tarea, Prioridad y Fecha Límite. Cero acuerdos olvidados en el equipo.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Análisis de Requerimientos a BPMN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Tomar la descripción verbal de un usuario de negocio y convertirla en la secuencia lógica paso a paso para diagramar y automatizar flujos en el software.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OpenAI Platform vs ChatGPT: ¿Cuál es la diferencia?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7277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58030"/>
                <a:gridCol w="4358030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ChatGPT (Consumidor)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OpenAI Platform (API &amp; Playground)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0EA5E9"/>
                          </a:solidFill>
                        </a:defRPr>
                      </a:pPr>
                      <a:r>
                        <a:t>Propósito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Chatbot conversacional interactivo.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Motor de desarrollo para automatizar sistemas.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0EA5E9"/>
                          </a:solidFill>
                        </a:defRPr>
                      </a:pPr>
                      <a:r>
                        <a:t>Configuración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Instrucciones generales.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Control estricto de System Prompt, Temp y Tokens.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0EA5E9"/>
                          </a:solidFill>
                        </a:defRPr>
                      </a:pPr>
                      <a:r>
                        <a:t>Automatización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No se conecta a flujos externos.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Diseñado para conectarse con Make, Zapier y n8n.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0EA5E9"/>
                          </a:solidFill>
                        </a:defRPr>
                      </a:pPr>
                      <a:r>
                        <a:t>Costo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Suscripción fija ($20/mes).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Pago por consumo de tokens (fracciones de centavo).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0EA5E9"/>
                          </a:solidFill>
                        </a:defRPr>
                      </a:pPr>
                      <a:r>
                        <a:t>Salida de Datos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Texto conversacional.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FFFFF"/>
                          </a:solidFill>
                        </a:defRPr>
                      </a:pPr>
                      <a:r>
                        <a:t>Capacidad de forzar modo JSON estructurado puro.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Los Controles de Mando en OpenAI Playground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System Instructions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El rol, políticas, restricciones y formato de salida. Guía cada respuesta del agente.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32888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User Prompt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La consulta o texto desestructurado que ingresa el usuario o el sistema en tiempo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65576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Model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gpt-4o-mini (rápido, económico y potente para el 90% de tareas) vs gpt-4o (multimodalidad compleja).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98264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Temperature (0.0 a 2.0)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0.0 = Determinista, exacto para JSON. 0.7 = Creativo para redacción y contenidos.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30952"/>
            <a:ext cx="1069848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Max Tokens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Límite superior de tokens en la respuesta (1 token ≈ 4 caracteres). Controla costos y extensión.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Taller en Vivo - Prácticas 1 y 2 en Playground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563EB"/>
                </a:solidFill>
              </a:defRPr>
            </a:pPr>
            <a:r>
              <a:t>Práctica 1: Soporte con Guardrails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Modelo: gpt-4o-mini | Temp: 0.2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Rol: 'SoporteBot de TecnoHogar Perú'.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Reglas: 7 días de devolución, envíos 24-48h, liquidaciones sin cambio.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Caso de prueba: Cliente que exige devolución al día 15 amenazando con Indecopi.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Observar: Firmeza empática y activación del código [DERIVAR_A_HUMANO].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EA5E9"/>
                </a:solidFill>
              </a:defRPr>
            </a:pPr>
            <a:r>
              <a:t>Práctica 2: Generador Multicanal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Modelo: gpt-4o-mini | Temp: 0.7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Rol: 'Copywriter Estratégico B2B'.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Tarea: Generar versión LinkedIn (profesional + hashtags) y versión WhatsApp (emojis + link).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Caso de prueba: Lanzamiento de integración WhatsApp &lt;-&gt; Google Sheets.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Observar: Adaptación automática de longitud y registro lingüístico.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Taller en Vivo - Prácticas 3 y 4 en Playground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Práctica 3: Extracción a JSON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Modelo: gpt-4o-mini | Temp: 0.0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Rol: 'Motor NLP de Operaciones'.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Tarea: Analizar reclamo y devolver SOLO un JSON con: cliente, pedido, categoría, urgencia, sentimiento y acción.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Caso de prueba: Reclamo por cobro duplicado de S/ 450 en tarjeta.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Observar: Salida limpia, sin texto adicional, lista para Make/Zapier.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563EB"/>
                </a:solidFill>
              </a:defRPr>
            </a:pPr>
            <a:r>
              <a:t>Práctica 4: Minuta y Tareas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Modelo: gpt-4o-mini | Temp: 0.3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Rol: 'Gestor de Proyectos Ágil'.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Tarea: Convertir notas informales de reunión en Minuta Ejecutiva con tabla de responsables y fechas límite.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Caso de prueba: Reunión desordenada de ventas y sistemas sobre CRM y Excel duplicado.</a:t>
            </a:r>
          </a:p>
          <a:p>
            <a:pPr>
              <a:spcBef>
                <a:spcPts val="1000"/>
              </a:spcBef>
              <a:defRPr sz="1450">
                <a:solidFill>
                  <a:srgbClr val="FFFFFF"/>
                </a:solidFill>
              </a:defRPr>
            </a:pPr>
            <a:r>
              <a:t>• Observar: Síntesis de compromisos y matriz de acción.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Reto en Clase: Diseña el Agente de tu Trabajo (15 minutos)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A5E9"/>
                </a:solidFill>
              </a:defRPr>
            </a:pPr>
            <a:r>
              <a:t>Paso a Paso del Reto Individual / Parejas: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Identifica un proceso repetitivo de tu empleo o negocio (ej. responder cotizaciones, filtrar CVs, calificar prospectos).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Redacta el System Prompt en tu Playground definiendo: Nombre, rol, 3 reglas indispensables y formato de salida.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Elige la Temperatura adecuada (¿Requiere precisión numérica de datos o redacción creativa?).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4. Prueba el agente con 2 casos: uno normal y un caso difícil con datos incompletos.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5. Voluntarios: 2 participantes compartirán pantalla para recibir retroalimentación en vivo.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AUTOMATIZACIÓN DE AGENTES DE IA | IDAT - PACHAQTEC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Conclusiones y Conexión con la Próxima Clase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¿Qué nos llevamos hoy? (Subindicador 3)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✓ La IA automatiza procesos de negocio cuando se le dan reglas, restricciones y guardrails claros.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✓ La diferencia entre un juguete y un agente profesional radica en la arquitectura del System Prompt.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✓ Dominio de parámetros técnicos: Temperature, Modelos y Tokens.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✓ El formato JSON es el puente definitivo para conectar la IA con plataformas no-code (Make/n8n).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563EB"/>
                </a:solidFill>
              </a:defRPr>
            </a:pPr>
            <a:r>
              <a:t>Próxima Clase: Subindicador 4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Tema: Diseño de prompts efectivos y lógica avanzada de automatización.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Técnicas de ingeniería de prompts: Few-Shot prompting, Chain of Thought (paso a paso), Delimitadores y Guardrails anti-alucinación.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Optimización e iteración de prompts para producción.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¡Nos vemos el próximo martes a las 19:30!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